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6" d="100"/>
          <a:sy n="66" d="100"/>
        </p:scale>
        <p:origin x="62" y="26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286000"/>
            <a:ext cx="9642383" cy="984885"/>
          </a:xfrm>
          <a:prstGeom prst="rect">
            <a:avLst/>
          </a:prstGeom>
          <a:noFill/>
        </p:spPr>
        <p:txBody>
          <a:bodyPr wrap="none">
            <a:spAutoFit/>
          </a:bodyPr>
          <a:lstStyle/>
          <a:p>
            <a:pPr>
              <a:defRPr sz="4000" b="1">
                <a:solidFill>
                  <a:srgbClr val="0F172A"/>
                </a:solidFill>
              </a:defRPr>
            </a:pPr>
            <a:r>
              <a:rPr dirty="0" err="1"/>
              <a:t>半導体システムLSI</a:t>
            </a:r>
            <a:r>
              <a:rPr dirty="0"/>
              <a:t> </a:t>
            </a:r>
            <a:r>
              <a:rPr dirty="0" err="1"/>
              <a:t>歩留まり分析レポート</a:t>
            </a:r>
            <a:endParaRPr dirty="0"/>
          </a:p>
          <a:p>
            <a:pPr>
              <a:defRPr sz="1800">
                <a:solidFill>
                  <a:srgbClr val="64748B"/>
                </a:solidFill>
              </a:defRPr>
            </a:pPr>
            <a:r>
              <a:rPr dirty="0" err="1"/>
              <a:t>生成日時</a:t>
            </a:r>
            <a:r>
              <a:rPr dirty="0"/>
              <a:t>: 2026-09-29 11:33 | </a:t>
            </a:r>
            <a:r>
              <a:rPr dirty="0" err="1"/>
              <a:t>製造技術部・品質保証部</a:t>
            </a:r>
            <a:r>
              <a:rPr lang="ja-JP" altLang="en-US" dirty="0"/>
              <a:t>（サンプル）</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548640"/>
            <a:ext cx="10698480" cy="731520"/>
          </a:xfrm>
          <a:prstGeom prst="rect">
            <a:avLst/>
          </a:prstGeom>
          <a:noFill/>
        </p:spPr>
        <p:txBody>
          <a:bodyPr wrap="none">
            <a:spAutoFit/>
          </a:bodyPr>
          <a:lstStyle/>
          <a:p>
            <a:pPr>
              <a:defRPr sz="2600" b="1">
                <a:solidFill>
                  <a:srgbClr val="0F172A"/>
                </a:solidFill>
              </a:defRPr>
            </a:pPr>
            <a:r>
              <a:t>1. 歩留まりトレンド</a:t>
            </a:r>
          </a:p>
        </p:txBody>
      </p:sp>
      <p:pic>
        <p:nvPicPr>
          <p:cNvPr id="3" name="Picture 2" descr="trend_list_yield_sample_20260929_113317.png"/>
          <p:cNvPicPr>
            <a:picLocks noChangeAspect="1"/>
          </p:cNvPicPr>
          <p:nvPr/>
        </p:nvPicPr>
        <p:blipFill>
          <a:blip r:embed="rId2"/>
          <a:stretch>
            <a:fillRect/>
          </a:stretch>
        </p:blipFill>
        <p:spPr>
          <a:xfrm>
            <a:off x="731520" y="1463040"/>
            <a:ext cx="5943600" cy="3120390"/>
          </a:xfrm>
          <a:prstGeom prst="rect">
            <a:avLst/>
          </a:prstGeom>
        </p:spPr>
      </p:pic>
      <p:sp>
        <p:nvSpPr>
          <p:cNvPr id="4" name="TextBox 3"/>
          <p:cNvSpPr txBox="1"/>
          <p:nvPr/>
        </p:nvSpPr>
        <p:spPr>
          <a:xfrm>
            <a:off x="6949440" y="1463040"/>
            <a:ext cx="4480560" cy="4114800"/>
          </a:xfrm>
          <a:prstGeom prst="rect">
            <a:avLst/>
          </a:prstGeom>
          <a:noFill/>
        </p:spPr>
        <p:txBody>
          <a:bodyPr wrap="square">
            <a:spAutoFit/>
          </a:bodyPr>
          <a:lstStyle/>
          <a:p>
            <a:pPr>
              <a:defRPr sz="2000" b="1"/>
            </a:pPr>
            <a:r>
              <a:t>【トレンド分析結果】</a:t>
            </a:r>
          </a:p>
          <a:p>
            <a:pPr>
              <a:spcBef>
                <a:spcPts val="1000"/>
              </a:spcBef>
              <a:defRPr sz="1400"/>
            </a:pPr>
            <a:r>
              <a:t>• 全 5 LOTの平均歩留まりは 98.66% です。</a:t>
            </a:r>
            <a:br/>
            <a:r>
              <a:t>• ワーストLOT: 「bbb002」 (96.79%)</a:t>
            </a:r>
            <a:br/>
            <a:br/>
            <a:r>
              <a:t>• Target歩留まりに対する歩留まりギャップ（Yield Gap）と、個別Fail_Tnoごとの不良傾向を確認しました。</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74320"/>
            <a:ext cx="10698480" cy="731520"/>
          </a:xfrm>
          <a:prstGeom prst="rect">
            <a:avLst/>
          </a:prstGeom>
          <a:noFill/>
        </p:spPr>
        <p:txBody>
          <a:bodyPr wrap="none">
            <a:spAutoFit/>
          </a:bodyPr>
          <a:lstStyle/>
          <a:p>
            <a:pPr>
              <a:defRPr sz="2600" b="1">
                <a:solidFill>
                  <a:srgbClr val="0F172A"/>
                </a:solidFill>
              </a:defRPr>
            </a:pPr>
            <a:r>
              <a:t>2. 不良要因 パレート分析 LOT_NO.aaa001</a:t>
            </a:r>
          </a:p>
        </p:txBody>
      </p:sp>
      <p:pic>
        <p:nvPicPr>
          <p:cNvPr id="3" name="Picture 2" descr="pareto_list_yield_sample_aaa001_20260929_113317.png"/>
          <p:cNvPicPr>
            <a:picLocks noChangeAspect="1"/>
          </p:cNvPicPr>
          <p:nvPr/>
        </p:nvPicPr>
        <p:blipFill>
          <a:blip r:embed="rId2"/>
          <a:stretch>
            <a:fillRect/>
          </a:stretch>
        </p:blipFill>
        <p:spPr>
          <a:xfrm>
            <a:off x="731520" y="1005840"/>
            <a:ext cx="10698480" cy="3387852"/>
          </a:xfrm>
          <a:prstGeom prst="rect">
            <a:avLst/>
          </a:prstGeom>
        </p:spPr>
      </p:pic>
      <p:sp>
        <p:nvSpPr>
          <p:cNvPr id="4" name="TextBox 3"/>
          <p:cNvSpPr txBox="1"/>
          <p:nvPr/>
        </p:nvSpPr>
        <p:spPr>
          <a:xfrm>
            <a:off x="731520" y="4846320"/>
            <a:ext cx="10698480" cy="1645920"/>
          </a:xfrm>
          <a:prstGeom prst="rect">
            <a:avLst/>
          </a:prstGeom>
          <a:noFill/>
        </p:spPr>
        <p:txBody>
          <a:bodyPr wrap="square">
            <a:spAutoFit/>
          </a:bodyPr>
          <a:lstStyle/>
          <a:p>
            <a:pPr>
              <a:defRPr sz="1800" b="1"/>
            </a:pPr>
            <a:r>
              <a:t>【プロセス解析・改善アクション】</a:t>
            </a:r>
          </a:p>
          <a:p>
            <a:pPr>
              <a:spcBef>
                <a:spcPts val="500"/>
              </a:spcBef>
              <a:defRPr sz="1300"/>
            </a:pPr>
            <a:r>
              <a:t>• 対象LOT: aaa001 (実績歩留まり: 99.24%)</a:t>
            </a:r>
            <a:br/>
            <a:r>
              <a:t>• 状況評価: 目標に対し非常に良好な歩留まりを維持しています。</a:t>
            </a:r>
            <a:br/>
            <a:r>
              <a:t>• 最頻不具合項目: Tno.234 (8 pcs)</a:t>
            </a:r>
            <a:br/>
            <a:r>
              <a:t>• 推奨対策: コンタクトオープン不良が主因。プローブカードの接触針圧低下、ピッチズレ、あるいはパッド表面の酸化皮膜を点検してください。</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74320"/>
            <a:ext cx="10698480" cy="731520"/>
          </a:xfrm>
          <a:prstGeom prst="rect">
            <a:avLst/>
          </a:prstGeom>
          <a:noFill/>
        </p:spPr>
        <p:txBody>
          <a:bodyPr wrap="none">
            <a:spAutoFit/>
          </a:bodyPr>
          <a:lstStyle/>
          <a:p>
            <a:pPr>
              <a:defRPr sz="2600" b="1">
                <a:solidFill>
                  <a:srgbClr val="0F172A"/>
                </a:solidFill>
              </a:defRPr>
            </a:pPr>
            <a:r>
              <a:t>2. 不良要因 パレート分析 LOT_NO.bbb002</a:t>
            </a:r>
          </a:p>
        </p:txBody>
      </p:sp>
      <p:pic>
        <p:nvPicPr>
          <p:cNvPr id="3" name="Picture 2" descr="pareto_list_yield_sample_bbb002_20260929_113317.png"/>
          <p:cNvPicPr>
            <a:picLocks noChangeAspect="1"/>
          </p:cNvPicPr>
          <p:nvPr/>
        </p:nvPicPr>
        <p:blipFill>
          <a:blip r:embed="rId2"/>
          <a:stretch>
            <a:fillRect/>
          </a:stretch>
        </p:blipFill>
        <p:spPr>
          <a:xfrm>
            <a:off x="731520" y="1005840"/>
            <a:ext cx="10698480" cy="3387852"/>
          </a:xfrm>
          <a:prstGeom prst="rect">
            <a:avLst/>
          </a:prstGeom>
        </p:spPr>
      </p:pic>
      <p:sp>
        <p:nvSpPr>
          <p:cNvPr id="4" name="TextBox 3"/>
          <p:cNvSpPr txBox="1"/>
          <p:nvPr/>
        </p:nvSpPr>
        <p:spPr>
          <a:xfrm>
            <a:off x="731520" y="4846320"/>
            <a:ext cx="10698480" cy="1645920"/>
          </a:xfrm>
          <a:prstGeom prst="rect">
            <a:avLst/>
          </a:prstGeom>
          <a:noFill/>
        </p:spPr>
        <p:txBody>
          <a:bodyPr wrap="square">
            <a:spAutoFit/>
          </a:bodyPr>
          <a:lstStyle/>
          <a:p>
            <a:pPr>
              <a:defRPr sz="1800" b="1"/>
            </a:pPr>
            <a:r>
              <a:t>【プロセス解析・改善アクション】</a:t>
            </a:r>
          </a:p>
          <a:p>
            <a:pPr>
              <a:spcBef>
                <a:spcPts val="500"/>
              </a:spcBef>
              <a:defRPr sz="1300"/>
            </a:pPr>
            <a:r>
              <a:t>• 対象LOT: bbb002 (実績歩留まり: 96.79%)</a:t>
            </a:r>
            <a:br/>
            <a:r>
              <a:t>• 状況評価: 概ね安定していますが、特定Tnoによる軽微な歩留まりロスが発生しています。</a:t>
            </a:r>
            <a:br/>
            <a:r>
              <a:t>• 最頻不具合項目: Tno.189 (140 pcs)</a:t>
            </a:r>
            <a:br/>
            <a:r>
              <a:t>• 推奨対策: アナログ検査項目での規格外れが多発。コンパレータ基準電圧の変動や入力アンプのオフセット特性を確認してください。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74320"/>
            <a:ext cx="10698480" cy="731520"/>
          </a:xfrm>
          <a:prstGeom prst="rect">
            <a:avLst/>
          </a:prstGeom>
          <a:noFill/>
        </p:spPr>
        <p:txBody>
          <a:bodyPr wrap="none">
            <a:spAutoFit/>
          </a:bodyPr>
          <a:lstStyle/>
          <a:p>
            <a:pPr>
              <a:defRPr sz="2600" b="1">
                <a:solidFill>
                  <a:srgbClr val="0F172A"/>
                </a:solidFill>
              </a:defRPr>
            </a:pPr>
            <a:r>
              <a:t>2. 不良要因 パレート分析 LOT_NO.ccc003</a:t>
            </a:r>
          </a:p>
        </p:txBody>
      </p:sp>
      <p:pic>
        <p:nvPicPr>
          <p:cNvPr id="3" name="Picture 2" descr="pareto_list_yield_sample_ccc003_20260929_113317.png"/>
          <p:cNvPicPr>
            <a:picLocks noChangeAspect="1"/>
          </p:cNvPicPr>
          <p:nvPr/>
        </p:nvPicPr>
        <p:blipFill>
          <a:blip r:embed="rId2"/>
          <a:stretch>
            <a:fillRect/>
          </a:stretch>
        </p:blipFill>
        <p:spPr>
          <a:xfrm>
            <a:off x="731520" y="1005840"/>
            <a:ext cx="10698480" cy="3387852"/>
          </a:xfrm>
          <a:prstGeom prst="rect">
            <a:avLst/>
          </a:prstGeom>
        </p:spPr>
      </p:pic>
      <p:sp>
        <p:nvSpPr>
          <p:cNvPr id="4" name="TextBox 3"/>
          <p:cNvSpPr txBox="1"/>
          <p:nvPr/>
        </p:nvSpPr>
        <p:spPr>
          <a:xfrm>
            <a:off x="731520" y="4846320"/>
            <a:ext cx="10698480" cy="1645920"/>
          </a:xfrm>
          <a:prstGeom prst="rect">
            <a:avLst/>
          </a:prstGeom>
          <a:noFill/>
        </p:spPr>
        <p:txBody>
          <a:bodyPr wrap="square">
            <a:spAutoFit/>
          </a:bodyPr>
          <a:lstStyle/>
          <a:p>
            <a:pPr>
              <a:defRPr sz="1800" b="1"/>
            </a:pPr>
            <a:r>
              <a:t>【プロセス解析・改善アクション】</a:t>
            </a:r>
          </a:p>
          <a:p>
            <a:pPr>
              <a:spcBef>
                <a:spcPts val="500"/>
              </a:spcBef>
              <a:defRPr sz="1300"/>
            </a:pPr>
            <a:r>
              <a:t>• 対象LOT: ccc003 (実績歩留まり: 99.64%)</a:t>
            </a:r>
            <a:br/>
            <a:r>
              <a:t>• 状況評価: 目標に対し非常に良好な歩留まりを維持しています。</a:t>
            </a:r>
            <a:br/>
            <a:r>
              <a:t>• 最頻不具合項目: Tno.115 (3 pcs)</a:t>
            </a:r>
            <a:br/>
            <a:r>
              <a:t>• 推奨対策: アナログ検査項目での規格外れが多発。コンパレータ基準電圧の変動や入力アンプのオフセット特性を確認してください。</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74320"/>
            <a:ext cx="10698480" cy="731520"/>
          </a:xfrm>
          <a:prstGeom prst="rect">
            <a:avLst/>
          </a:prstGeom>
          <a:noFill/>
        </p:spPr>
        <p:txBody>
          <a:bodyPr wrap="none">
            <a:spAutoFit/>
          </a:bodyPr>
          <a:lstStyle/>
          <a:p>
            <a:pPr>
              <a:defRPr sz="2600" b="1">
                <a:solidFill>
                  <a:srgbClr val="0F172A"/>
                </a:solidFill>
              </a:defRPr>
            </a:pPr>
            <a:r>
              <a:t>2. 不良要因 パレート分析 LOT_NO.ddd004</a:t>
            </a:r>
          </a:p>
        </p:txBody>
      </p:sp>
      <p:pic>
        <p:nvPicPr>
          <p:cNvPr id="3" name="Picture 2" descr="pareto_list_yield_sample_ddd004_20260929_113317.png"/>
          <p:cNvPicPr>
            <a:picLocks noChangeAspect="1"/>
          </p:cNvPicPr>
          <p:nvPr/>
        </p:nvPicPr>
        <p:blipFill>
          <a:blip r:embed="rId2"/>
          <a:stretch>
            <a:fillRect/>
          </a:stretch>
        </p:blipFill>
        <p:spPr>
          <a:xfrm>
            <a:off x="731520" y="1005840"/>
            <a:ext cx="10698480" cy="3387852"/>
          </a:xfrm>
          <a:prstGeom prst="rect">
            <a:avLst/>
          </a:prstGeom>
        </p:spPr>
      </p:pic>
      <p:sp>
        <p:nvSpPr>
          <p:cNvPr id="4" name="TextBox 3"/>
          <p:cNvSpPr txBox="1"/>
          <p:nvPr/>
        </p:nvSpPr>
        <p:spPr>
          <a:xfrm>
            <a:off x="731520" y="4846320"/>
            <a:ext cx="10698480" cy="1645920"/>
          </a:xfrm>
          <a:prstGeom prst="rect">
            <a:avLst/>
          </a:prstGeom>
          <a:noFill/>
        </p:spPr>
        <p:txBody>
          <a:bodyPr wrap="square">
            <a:spAutoFit/>
          </a:bodyPr>
          <a:lstStyle/>
          <a:p>
            <a:pPr>
              <a:defRPr sz="1800" b="1"/>
            </a:pPr>
            <a:r>
              <a:t>【プロセス解析・改善アクション】</a:t>
            </a:r>
          </a:p>
          <a:p>
            <a:pPr>
              <a:spcBef>
                <a:spcPts val="500"/>
              </a:spcBef>
              <a:defRPr sz="1300"/>
            </a:pPr>
            <a:r>
              <a:t>• 対象LOT: ddd004 (実績歩留まり: 98.17%)</a:t>
            </a:r>
            <a:br/>
            <a:r>
              <a:t>• 状況評価: 概ね安定していますが、特定Tnoによる軽微な歩留まりロスが発生しています。</a:t>
            </a:r>
            <a:br/>
            <a:r>
              <a:t>• 最頻不具合項目: Tno.154 (22 pcs)</a:t>
            </a:r>
            <a:br/>
            <a:r>
              <a:t>• 推奨対策: アナログ検査項目での規格外れが多発。コンパレータ基準電圧の変動や入力アンプのオフセット特性を確認してください。</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74320"/>
            <a:ext cx="10698480" cy="731520"/>
          </a:xfrm>
          <a:prstGeom prst="rect">
            <a:avLst/>
          </a:prstGeom>
          <a:noFill/>
        </p:spPr>
        <p:txBody>
          <a:bodyPr wrap="none">
            <a:spAutoFit/>
          </a:bodyPr>
          <a:lstStyle/>
          <a:p>
            <a:pPr>
              <a:defRPr sz="2600" b="1">
                <a:solidFill>
                  <a:srgbClr val="0F172A"/>
                </a:solidFill>
              </a:defRPr>
            </a:pPr>
            <a:r>
              <a:t>2. 不良要因 パレート分析 LOT_NO.eee005</a:t>
            </a:r>
          </a:p>
        </p:txBody>
      </p:sp>
      <p:pic>
        <p:nvPicPr>
          <p:cNvPr id="3" name="Picture 2" descr="pareto_list_yield_sample_eee005_20260929_113317.png"/>
          <p:cNvPicPr>
            <a:picLocks noChangeAspect="1"/>
          </p:cNvPicPr>
          <p:nvPr/>
        </p:nvPicPr>
        <p:blipFill>
          <a:blip r:embed="rId2"/>
          <a:stretch>
            <a:fillRect/>
          </a:stretch>
        </p:blipFill>
        <p:spPr>
          <a:xfrm>
            <a:off x="731520" y="1005840"/>
            <a:ext cx="10698480" cy="3387852"/>
          </a:xfrm>
          <a:prstGeom prst="rect">
            <a:avLst/>
          </a:prstGeom>
        </p:spPr>
      </p:pic>
      <p:sp>
        <p:nvSpPr>
          <p:cNvPr id="4" name="TextBox 3"/>
          <p:cNvSpPr txBox="1"/>
          <p:nvPr/>
        </p:nvSpPr>
        <p:spPr>
          <a:xfrm>
            <a:off x="731520" y="4846320"/>
            <a:ext cx="10698480" cy="1645920"/>
          </a:xfrm>
          <a:prstGeom prst="rect">
            <a:avLst/>
          </a:prstGeom>
          <a:noFill/>
        </p:spPr>
        <p:txBody>
          <a:bodyPr wrap="square">
            <a:spAutoFit/>
          </a:bodyPr>
          <a:lstStyle/>
          <a:p>
            <a:pPr>
              <a:defRPr sz="1800" b="1"/>
            </a:pPr>
            <a:r>
              <a:t>【プロセス解析・改善アクション】</a:t>
            </a:r>
          </a:p>
          <a:p>
            <a:pPr>
              <a:spcBef>
                <a:spcPts val="500"/>
              </a:spcBef>
              <a:defRPr sz="1300"/>
            </a:pPr>
            <a:r>
              <a:t>• 対象LOT: eee005 (実績歩留まり: 99.44%)</a:t>
            </a:r>
            <a:br/>
            <a:r>
              <a:t>• 状況評価: 目標に対し非常に良好な歩留まりを維持しています。</a:t>
            </a:r>
            <a:br/>
            <a:r>
              <a:t>• 最頻不具合項目: Tno.254 (6 pcs)</a:t>
            </a:r>
            <a:br/>
            <a:r>
              <a:t>• 推奨対策: コンタクトオープン不良が主因。プローブカードの接触針圧低下、ピッチズレ、あるいはパッド表面の酸化皮膜を点検してください。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318</Words>
  <Application>Microsoft Office PowerPoint</Application>
  <PresentationFormat>ワイド画面</PresentationFormat>
  <Paragraphs>20</Paragraphs>
  <Slides>7</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7</vt:i4>
      </vt:variant>
    </vt:vector>
  </HeadingPairs>
  <TitlesOfParts>
    <vt:vector size="10" baseType="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孝一 末永</cp:lastModifiedBy>
  <cp:revision>2</cp:revision>
  <dcterms:created xsi:type="dcterms:W3CDTF">2013-01-27T09:14:16Z</dcterms:created>
  <dcterms:modified xsi:type="dcterms:W3CDTF">2026-10-19T01:45:28Z</dcterms:modified>
  <cp:category/>
</cp:coreProperties>
</file>